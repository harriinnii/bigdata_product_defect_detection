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d356bbe275_0_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2" name="Google Shape;52;g3d356bbe275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d356bbe275_0_5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1" name="Google Shape;61;g3d356bbe275_0_5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d356bbe275_0_7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0" name="Google Shape;70;g3d356bbe275_0_7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d356bbe275_0_8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8" name="Google Shape;78;g3d356bbe275_0_8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d356bbe275_0_9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" name="Google Shape;86;g3d356bbe275_0_9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d356bbe275_0_10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4" name="Google Shape;94;g3d356bbe275_0_10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d356bbe275_0_11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3" name="Google Shape;103;g3d356bbe275_0_1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d356bbe275_0_12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2" name="Google Shape;112;g3d356bbe275_0_12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d356bbe275_2_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1" name="Google Shape;121;g3d356bbe275_2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d356bbe275_2_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0" name="Google Shape;130;g3d356bbe275_2_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d356bbe275_2_1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1" name="Google Shape;141;g3d356bbe275_2_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d356bbe275_0_13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2" name="Google Shape;152;g3d356bbe275_0_13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d356bbe275_0_14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1" name="Google Shape;161;g3d356bbe275_0_14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d356bbe275_0_15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0" name="Google Shape;170;g3d356bbe275_0_15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d356bbe275_0_16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9" name="Google Shape;179;g3d356bbe275_0_16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d356bbe275_0_17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7" name="Google Shape;187;g3d356bbe275_0_17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hyperlink" Target="https://lms.ssn.edu.in/course/view.php?id=4756#section-16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1" Type="http://schemas.openxmlformats.org/officeDocument/2006/relationships/hyperlink" Target="https://www.kaggle.com/" TargetMode="External"/><Relationship Id="rId10" Type="http://schemas.openxmlformats.org/officeDocument/2006/relationships/hyperlink" Target="https://www.kaggle.com/" TargetMode="External"/><Relationship Id="rId13" Type="http://schemas.openxmlformats.org/officeDocument/2006/relationships/hyperlink" Target="https://matplotlib.org/stable/contents.html" TargetMode="External"/><Relationship Id="rId12" Type="http://schemas.openxmlformats.org/officeDocument/2006/relationships/hyperlink" Target="https://matplotlib.org/stable/contents.html" TargetMode="External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Relationship Id="rId4" Type="http://schemas.openxmlformats.org/officeDocument/2006/relationships/hyperlink" Target="https://spark.apache.org/docs/latest/" TargetMode="External"/><Relationship Id="rId9" Type="http://schemas.openxmlformats.org/officeDocument/2006/relationships/hyperlink" Target="https://www.mongodb.com/docs/" TargetMode="External"/><Relationship Id="rId5" Type="http://schemas.openxmlformats.org/officeDocument/2006/relationships/hyperlink" Target="https://spark.apache.org/docs/latest/" TargetMode="External"/><Relationship Id="rId6" Type="http://schemas.openxmlformats.org/officeDocument/2006/relationships/hyperlink" Target="https://kafka.apache.org/documentation/" TargetMode="External"/><Relationship Id="rId7" Type="http://schemas.openxmlformats.org/officeDocument/2006/relationships/hyperlink" Target="https://kafka.apache.org/documentation/" TargetMode="External"/><Relationship Id="rId8" Type="http://schemas.openxmlformats.org/officeDocument/2006/relationships/hyperlink" Target="https://www.mongodb.com/docs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5400"/>
            <a:ext cx="9144000" cy="107649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/>
          <p:nvPr/>
        </p:nvSpPr>
        <p:spPr>
          <a:xfrm>
            <a:off x="288360" y="186705"/>
            <a:ext cx="8567400" cy="6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13"/>
          <p:cNvSpPr/>
          <p:nvPr/>
        </p:nvSpPr>
        <p:spPr>
          <a:xfrm>
            <a:off x="414300" y="104642"/>
            <a:ext cx="8315400" cy="9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lang="en" sz="2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Real-Time Defect Detection in Manufacturing Using Big Data Technologies</a:t>
            </a:r>
            <a:endParaRPr b="1" sz="24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1" sz="2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sng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1086955" y="3169084"/>
            <a:ext cx="6696600" cy="18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457200" lvl="0" marL="1828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Team Members </a:t>
            </a:r>
            <a:endParaRPr b="1" sz="2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Harini J, 3122237001015</a:t>
            </a:r>
            <a:endParaRPr b="1" sz="2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Jayasree R , 3122237001019</a:t>
            </a:r>
            <a:endParaRPr sz="2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136800" y="1460125"/>
            <a:ext cx="8467800" cy="15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			 </a:t>
            </a:r>
            <a:r>
              <a:rPr b="1" lang="en" sz="2400">
                <a:solidFill>
                  <a:schemeClr val="dk1"/>
                </a:solidFill>
                <a:uFill>
                  <a:noFill/>
                </a:uFill>
                <a:latin typeface="Times New Roman"/>
                <a:ea typeface="Times New Roman"/>
                <a:cs typeface="Times New Roman"/>
                <a:sym typeface="Times New Roman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ICS1612-B</a:t>
            </a:r>
            <a:r>
              <a:rPr b="1"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ig Data Management Laboratory</a:t>
            </a:r>
            <a:endParaRPr b="1"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22860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Mini Project</a:t>
            </a:r>
            <a:endParaRPr b="1"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5400"/>
            <a:ext cx="9144000" cy="1076490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4"/>
          <p:cNvSpPr/>
          <p:nvPr/>
        </p:nvSpPr>
        <p:spPr>
          <a:xfrm>
            <a:off x="288360" y="186705"/>
            <a:ext cx="8567400" cy="6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14"/>
          <p:cNvSpPr/>
          <p:nvPr/>
        </p:nvSpPr>
        <p:spPr>
          <a:xfrm>
            <a:off x="1194475" y="186692"/>
            <a:ext cx="8315400" cy="9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n" sz="2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Problem Statement and Application Domain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14"/>
          <p:cNvSpPr txBox="1"/>
          <p:nvPr/>
        </p:nvSpPr>
        <p:spPr>
          <a:xfrm>
            <a:off x="136800" y="1306500"/>
            <a:ext cx="4180200" cy="15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 Statement :</a:t>
            </a:r>
            <a:endParaRPr b="1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Manufacturing industries rely on manual inspection for quality control, which is time-consuming, inconsistent, and prone to human error. Defective products may go undetected, leading to reduced product quality and financial losses.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14"/>
          <p:cNvSpPr txBox="1"/>
          <p:nvPr/>
        </p:nvSpPr>
        <p:spPr>
          <a:xfrm>
            <a:off x="5069750" y="1244400"/>
            <a:ext cx="4009800" cy="343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Need for Solution:</a:t>
            </a:r>
            <a:endParaRPr b="1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Real-time defect detection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Automated inspection system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High-speed data processing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Application Domain:</a:t>
            </a:r>
            <a:endParaRPr b="1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Smart Manufacturing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Industrial Automation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Quality Control Systems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5400"/>
            <a:ext cx="9144000" cy="1076490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5"/>
          <p:cNvSpPr/>
          <p:nvPr/>
        </p:nvSpPr>
        <p:spPr>
          <a:xfrm>
            <a:off x="288360" y="186705"/>
            <a:ext cx="8567400" cy="6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5"/>
          <p:cNvSpPr/>
          <p:nvPr/>
        </p:nvSpPr>
        <p:spPr>
          <a:xfrm>
            <a:off x="2880100" y="186700"/>
            <a:ext cx="3875400" cy="9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n" sz="2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Objectives of the Project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15"/>
          <p:cNvSpPr txBox="1"/>
          <p:nvPr/>
        </p:nvSpPr>
        <p:spPr>
          <a:xfrm>
            <a:off x="136800" y="1306500"/>
            <a:ext cx="7053000" cy="15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Develop a streaming data ingestion pipeline using Apache Kafka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Perform ETL operations on streaming data using PySpark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Implement real-time defect detection using Spark MLlib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Store processed data in a scalable NoSQL database (MongoDB)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Perform real-time analytics on defect data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Enable visualization of analytical insights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Build a scalable and efficient big data processing pipeline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5400"/>
            <a:ext cx="9144000" cy="1076490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6"/>
          <p:cNvSpPr/>
          <p:nvPr/>
        </p:nvSpPr>
        <p:spPr>
          <a:xfrm>
            <a:off x="288360" y="186705"/>
            <a:ext cx="8567400" cy="6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16"/>
          <p:cNvSpPr/>
          <p:nvPr/>
        </p:nvSpPr>
        <p:spPr>
          <a:xfrm>
            <a:off x="2880100" y="186700"/>
            <a:ext cx="3875400" cy="9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n" sz="2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Development Environment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16"/>
          <p:cNvSpPr txBox="1"/>
          <p:nvPr/>
        </p:nvSpPr>
        <p:spPr>
          <a:xfrm>
            <a:off x="1291300" y="1475500"/>
            <a:ext cx="7053000" cy="15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Apache Kafka – real-time data streaming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Apache Spark – distributed data processing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Spark MLlib – machine learning for defect detection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Python / PySpark – implementation and processing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MongoDB – NoSQL database for storage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OpenCV – image processing 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Matplotlib – data visualization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5400"/>
            <a:ext cx="9144000" cy="107649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7"/>
          <p:cNvSpPr/>
          <p:nvPr/>
        </p:nvSpPr>
        <p:spPr>
          <a:xfrm>
            <a:off x="288360" y="186705"/>
            <a:ext cx="8567400" cy="6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7"/>
          <p:cNvSpPr/>
          <p:nvPr/>
        </p:nvSpPr>
        <p:spPr>
          <a:xfrm>
            <a:off x="2350525" y="186700"/>
            <a:ext cx="6206400" cy="9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n" sz="2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Overall System Architecture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1" name="Google Shape;91;p17"/>
          <p:cNvPicPr preferRelativeResize="0"/>
          <p:nvPr/>
        </p:nvPicPr>
        <p:blipFill rotWithShape="1">
          <a:blip r:embed="rId4">
            <a:alphaModFix/>
          </a:blip>
          <a:srcRect b="13714" l="0" r="0" t="14969"/>
          <a:stretch/>
        </p:blipFill>
        <p:spPr>
          <a:xfrm>
            <a:off x="349500" y="1363829"/>
            <a:ext cx="8567400" cy="34367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5400"/>
            <a:ext cx="9144000" cy="107649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8"/>
          <p:cNvSpPr/>
          <p:nvPr/>
        </p:nvSpPr>
        <p:spPr>
          <a:xfrm>
            <a:off x="288360" y="186705"/>
            <a:ext cx="8567400" cy="6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18"/>
          <p:cNvSpPr/>
          <p:nvPr/>
        </p:nvSpPr>
        <p:spPr>
          <a:xfrm>
            <a:off x="2350525" y="186700"/>
            <a:ext cx="6206400" cy="9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n" sz="2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Streaming Data Collection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18"/>
          <p:cNvSpPr txBox="1"/>
          <p:nvPr/>
        </p:nvSpPr>
        <p:spPr>
          <a:xfrm>
            <a:off x="391200" y="1153300"/>
            <a:ext cx="3639900" cy="44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Source:</a:t>
            </a:r>
            <a:endParaRPr b="1"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Char char="●"/>
            </a:pPr>
            <a:r>
              <a:rPr lang="en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Screw image dataset (good, scratch, thread defects)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Char char="●"/>
            </a:pPr>
            <a:r>
              <a:rPr lang="en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Simulates real-time production line camera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Streaming Method:</a:t>
            </a:r>
            <a:endParaRPr b="1"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Char char="●"/>
            </a:pPr>
            <a:r>
              <a:rPr lang="en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Python producer reads images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Char char="●"/>
            </a:pPr>
            <a:r>
              <a:rPr lang="en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Converts images into Base64 format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Char char="●"/>
            </a:pPr>
            <a:r>
              <a:rPr lang="en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Sends data to Kafka topic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8"/>
          <p:cNvSpPr txBox="1"/>
          <p:nvPr/>
        </p:nvSpPr>
        <p:spPr>
          <a:xfrm>
            <a:off x="4907125" y="1153300"/>
            <a:ext cx="3649800" cy="36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Kafka Configuration:</a:t>
            </a:r>
            <a:endParaRPr b="1"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Char char="●"/>
            </a:pPr>
            <a:r>
              <a:rPr lang="en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Topic: raw-sensor-images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Char char="●"/>
            </a:pPr>
            <a:r>
              <a:rPr lang="en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Acts as a real-time data pipeline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Spark Integration:</a:t>
            </a:r>
            <a:endParaRPr b="1"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Char char="●"/>
            </a:pPr>
            <a:r>
              <a:rPr lang="en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Spark Structured Streaming consumes data from Kafka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Char char="●"/>
            </a:pPr>
            <a:r>
              <a:rPr lang="en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Processes data continuously in real time</a:t>
            </a:r>
            <a:endParaRPr sz="19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5400"/>
            <a:ext cx="9144000" cy="107649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9"/>
          <p:cNvSpPr/>
          <p:nvPr/>
        </p:nvSpPr>
        <p:spPr>
          <a:xfrm>
            <a:off x="288360" y="186705"/>
            <a:ext cx="8567400" cy="6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19"/>
          <p:cNvSpPr/>
          <p:nvPr/>
        </p:nvSpPr>
        <p:spPr>
          <a:xfrm>
            <a:off x="2350525" y="186700"/>
            <a:ext cx="6206400" cy="9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n" sz="2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ETL Processing using Spark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19"/>
          <p:cNvSpPr txBox="1"/>
          <p:nvPr/>
        </p:nvSpPr>
        <p:spPr>
          <a:xfrm>
            <a:off x="391200" y="1153300"/>
            <a:ext cx="3946200" cy="42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Extract: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consumed from Kafka topic using Spark Structured Streaming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Base64 encoded image data received as stream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Load: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Convert processed data into structured DataFrame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Prepare output fields: product_id, status, confidence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9"/>
          <p:cNvSpPr txBox="1"/>
          <p:nvPr/>
        </p:nvSpPr>
        <p:spPr>
          <a:xfrm>
            <a:off x="4907125" y="1153300"/>
            <a:ext cx="3649800" cy="34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Transform: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Decode Base64 image data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Perform data cleaning (remove invalid/corrupt data)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Apply filtering to process valid records only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Perform schema transformation to structured format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Apply defect detection logic using Spark MLlib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5400"/>
            <a:ext cx="9144000" cy="107649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20"/>
          <p:cNvSpPr/>
          <p:nvPr/>
        </p:nvSpPr>
        <p:spPr>
          <a:xfrm>
            <a:off x="288360" y="186705"/>
            <a:ext cx="8567400" cy="6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20"/>
          <p:cNvSpPr/>
          <p:nvPr/>
        </p:nvSpPr>
        <p:spPr>
          <a:xfrm>
            <a:off x="1922000" y="186700"/>
            <a:ext cx="6634800" cy="9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n" sz="2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NoSQL Database Selection and Integration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20"/>
          <p:cNvSpPr txBox="1"/>
          <p:nvPr/>
        </p:nvSpPr>
        <p:spPr>
          <a:xfrm>
            <a:off x="391200" y="1153300"/>
            <a:ext cx="4180800" cy="35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Database Used:</a:t>
            </a:r>
            <a:endParaRPr b="1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MongoDB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Reason for Selection:</a:t>
            </a:r>
            <a:endParaRPr b="1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Document-based flexible schema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Efficient storage of JSON-like data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High scalability and performance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Suitable for real-time applications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20"/>
          <p:cNvSpPr txBox="1"/>
          <p:nvPr/>
        </p:nvSpPr>
        <p:spPr>
          <a:xfrm>
            <a:off x="5556800" y="1153300"/>
            <a:ext cx="3000000" cy="39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Integration with Spark:</a:t>
            </a:r>
            <a:endParaRPr b="1"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Char char="●"/>
            </a:pPr>
            <a:r>
              <a:rPr lang="en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Spark connects to MongoDB 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Char char="●"/>
            </a:pPr>
            <a:r>
              <a:rPr lang="en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Processed data inserted into MongoDB collection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Stored Data Format:</a:t>
            </a:r>
            <a:endParaRPr b="1"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Char char="●"/>
            </a:pPr>
            <a:r>
              <a:rPr lang="en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product_id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Char char="●"/>
            </a:pPr>
            <a:r>
              <a:rPr lang="en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status (defect / ok)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Char char="●"/>
            </a:pPr>
            <a:r>
              <a:rPr lang="en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confidence score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5400"/>
            <a:ext cx="9144000" cy="107649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21"/>
          <p:cNvSpPr/>
          <p:nvPr/>
        </p:nvSpPr>
        <p:spPr>
          <a:xfrm>
            <a:off x="288360" y="186705"/>
            <a:ext cx="8567400" cy="6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21"/>
          <p:cNvSpPr/>
          <p:nvPr/>
        </p:nvSpPr>
        <p:spPr>
          <a:xfrm>
            <a:off x="1922000" y="186700"/>
            <a:ext cx="6634800" cy="9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n" sz="2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Real Time Analytics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21"/>
          <p:cNvSpPr txBox="1"/>
          <p:nvPr/>
        </p:nvSpPr>
        <p:spPr>
          <a:xfrm>
            <a:off x="708700" y="1153300"/>
            <a:ext cx="7951200" cy="449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Analytics Performed:</a:t>
            </a:r>
            <a:endParaRPr b="1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Real-time monitoring of product inspection data stored in MongoDB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Classification of products into </a:t>
            </a:r>
            <a:r>
              <a:rPr b="1"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Accepted</a:t>
            </a:r>
            <a:r>
              <a:rPr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b="1"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Rejected</a:t>
            </a:r>
            <a:r>
              <a:rPr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categories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Analysis of defect types such as scratch, misalignment, and others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Computation of defect distribution across inspected products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Visualization of product-wise inspection results using charts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Tracking of quality trends for decision-making and process improvement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21"/>
          <p:cNvSpPr txBox="1"/>
          <p:nvPr/>
        </p:nvSpPr>
        <p:spPr>
          <a:xfrm>
            <a:off x="5556800" y="1153300"/>
            <a:ext cx="30000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5400"/>
            <a:ext cx="9144000" cy="107649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22"/>
          <p:cNvSpPr/>
          <p:nvPr/>
        </p:nvSpPr>
        <p:spPr>
          <a:xfrm>
            <a:off x="288360" y="186705"/>
            <a:ext cx="8567400" cy="6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22"/>
          <p:cNvSpPr/>
          <p:nvPr/>
        </p:nvSpPr>
        <p:spPr>
          <a:xfrm>
            <a:off x="1922000" y="186700"/>
            <a:ext cx="6634800" cy="9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n" sz="2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Visualization of Results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22"/>
          <p:cNvSpPr txBox="1"/>
          <p:nvPr/>
        </p:nvSpPr>
        <p:spPr>
          <a:xfrm>
            <a:off x="708700" y="1153300"/>
            <a:ext cx="7951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22"/>
          <p:cNvSpPr txBox="1"/>
          <p:nvPr/>
        </p:nvSpPr>
        <p:spPr>
          <a:xfrm>
            <a:off x="5556800" y="1153300"/>
            <a:ext cx="30000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7" name="Google Shape;137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8350" y="1480800"/>
            <a:ext cx="4257067" cy="3192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45417" y="1630300"/>
            <a:ext cx="4257067" cy="319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5400"/>
            <a:ext cx="9144000" cy="107649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23"/>
          <p:cNvSpPr/>
          <p:nvPr/>
        </p:nvSpPr>
        <p:spPr>
          <a:xfrm>
            <a:off x="288360" y="186705"/>
            <a:ext cx="8567400" cy="6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23"/>
          <p:cNvSpPr/>
          <p:nvPr/>
        </p:nvSpPr>
        <p:spPr>
          <a:xfrm>
            <a:off x="1922000" y="186700"/>
            <a:ext cx="6634800" cy="9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n" sz="2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Deployment of the System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23"/>
          <p:cNvSpPr txBox="1"/>
          <p:nvPr/>
        </p:nvSpPr>
        <p:spPr>
          <a:xfrm>
            <a:off x="708700" y="1153300"/>
            <a:ext cx="7951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23"/>
          <p:cNvSpPr txBox="1"/>
          <p:nvPr/>
        </p:nvSpPr>
        <p:spPr>
          <a:xfrm>
            <a:off x="5556800" y="1153300"/>
            <a:ext cx="30000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23"/>
          <p:cNvSpPr txBox="1"/>
          <p:nvPr/>
        </p:nvSpPr>
        <p:spPr>
          <a:xfrm>
            <a:off x="105825" y="1153300"/>
            <a:ext cx="3948300" cy="39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Deployment Components:</a:t>
            </a:r>
            <a:endParaRPr b="1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MongoDB database deployed using Docker container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Python analytics module for processing inspection data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visualization module for generating charts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Local environment for running real-time analytics pipeline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23"/>
          <p:cNvSpPr txBox="1"/>
          <p:nvPr/>
        </p:nvSpPr>
        <p:spPr>
          <a:xfrm>
            <a:off x="4572000" y="1153300"/>
            <a:ext cx="4283700" cy="39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Deployment Using Docker:</a:t>
            </a:r>
            <a:endParaRPr b="1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MongoDB pulled from Docker Hub as a container image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Container created and exposed on port 27017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Persistent database service running in isolated environment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Easy startup and shutdown using Docker commands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5400"/>
            <a:ext cx="9144000" cy="107649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24"/>
          <p:cNvSpPr/>
          <p:nvPr/>
        </p:nvSpPr>
        <p:spPr>
          <a:xfrm>
            <a:off x="1530010" y="323805"/>
            <a:ext cx="8567400" cy="6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24"/>
          <p:cNvSpPr/>
          <p:nvPr/>
        </p:nvSpPr>
        <p:spPr>
          <a:xfrm>
            <a:off x="2956200" y="186700"/>
            <a:ext cx="3231600" cy="9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n" sz="2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Results and Inference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24"/>
          <p:cNvSpPr txBox="1"/>
          <p:nvPr/>
        </p:nvSpPr>
        <p:spPr>
          <a:xfrm>
            <a:off x="374200" y="1071100"/>
            <a:ext cx="4796400" cy="45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 Findings: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Successfully implemented a real-time defect detection system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Continuous processing of streaming image data achieved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Accurate classification of defect and non-defect products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Insights Obtained: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Identification of frequent defect types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Monitoring of defect rates in production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Early detection of quality issues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24"/>
          <p:cNvSpPr txBox="1"/>
          <p:nvPr/>
        </p:nvSpPr>
        <p:spPr>
          <a:xfrm>
            <a:off x="5556800" y="1153300"/>
            <a:ext cx="3000000" cy="31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Performance:</a:t>
            </a:r>
            <a:endParaRPr b="1"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Char char="●"/>
            </a:pPr>
            <a:r>
              <a:rPr lang="en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Low latency real-time processing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Char char="●"/>
            </a:pPr>
            <a:r>
              <a:rPr lang="en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Scalable and efficient pipeline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Char char="●"/>
            </a:pPr>
            <a:r>
              <a:rPr lang="en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Reliable data storage and retrieval 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5400"/>
            <a:ext cx="9144000" cy="107649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25"/>
          <p:cNvSpPr/>
          <p:nvPr/>
        </p:nvSpPr>
        <p:spPr>
          <a:xfrm>
            <a:off x="1530010" y="323805"/>
            <a:ext cx="8567400" cy="6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25"/>
          <p:cNvSpPr/>
          <p:nvPr/>
        </p:nvSpPr>
        <p:spPr>
          <a:xfrm>
            <a:off x="2956200" y="186700"/>
            <a:ext cx="3231600" cy="9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n" sz="2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Impact of the Project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25"/>
          <p:cNvSpPr txBox="1"/>
          <p:nvPr/>
        </p:nvSpPr>
        <p:spPr>
          <a:xfrm>
            <a:off x="374200" y="1071100"/>
            <a:ext cx="4197900" cy="49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Human Impact:</a:t>
            </a:r>
            <a:endParaRPr b="1"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Char char="●"/>
            </a:pPr>
            <a:r>
              <a:rPr lang="en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Reduces manual inspection effort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Char char="●"/>
            </a:pPr>
            <a:r>
              <a:rPr lang="en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Minimizes human errors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Char char="●"/>
            </a:pPr>
            <a:r>
              <a:rPr lang="en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Improves decision-making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Societal Impact:</a:t>
            </a:r>
            <a:endParaRPr b="1"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Char char="●"/>
            </a:pPr>
            <a:r>
              <a:rPr lang="en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Supports smart manufacturing systems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Char char="●"/>
            </a:pPr>
            <a:r>
              <a:rPr lang="en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Enhances product quality and reliability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Char char="●"/>
            </a:pPr>
            <a:r>
              <a:rPr lang="en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Promotes industrial automation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25"/>
          <p:cNvSpPr txBox="1"/>
          <p:nvPr/>
        </p:nvSpPr>
        <p:spPr>
          <a:xfrm>
            <a:off x="4694475" y="1153300"/>
            <a:ext cx="4350900" cy="39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Ethical Considerations:</a:t>
            </a:r>
            <a:endParaRPr b="1"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Char char="●"/>
            </a:pPr>
            <a:r>
              <a:rPr lang="en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Ensures responsible use of data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Char char="●"/>
            </a:pPr>
            <a:r>
              <a:rPr lang="en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Maintains data privacy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Char char="●"/>
            </a:pPr>
            <a:r>
              <a:rPr lang="en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Reduces bias in defect detection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Sustainability Impact:</a:t>
            </a:r>
            <a:endParaRPr b="1"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Char char="●"/>
            </a:pPr>
            <a:r>
              <a:rPr lang="en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Reduces waste from defective products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Char char="●"/>
            </a:pPr>
            <a:r>
              <a:rPr lang="en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Improves resource efficiency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Char char="●"/>
            </a:pPr>
            <a:r>
              <a:rPr lang="en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Supports environmentally friendly production</a:t>
            </a:r>
            <a:endParaRPr b="1"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Google Shape;172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5400"/>
            <a:ext cx="9144000" cy="107649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26"/>
          <p:cNvSpPr/>
          <p:nvPr/>
        </p:nvSpPr>
        <p:spPr>
          <a:xfrm>
            <a:off x="1530010" y="323805"/>
            <a:ext cx="8567400" cy="6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26"/>
          <p:cNvSpPr/>
          <p:nvPr/>
        </p:nvSpPr>
        <p:spPr>
          <a:xfrm>
            <a:off x="2313225" y="186700"/>
            <a:ext cx="4456200" cy="9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n" sz="2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 and Future Work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26"/>
          <p:cNvSpPr txBox="1"/>
          <p:nvPr/>
        </p:nvSpPr>
        <p:spPr>
          <a:xfrm>
            <a:off x="255150" y="1241175"/>
            <a:ext cx="4197900" cy="36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Conclusion:</a:t>
            </a:r>
            <a:endParaRPr b="1"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Char char="●"/>
            </a:pPr>
            <a:r>
              <a:rPr lang="en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Developed a real-time quality control system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Char char="●"/>
            </a:pPr>
            <a:r>
              <a:rPr lang="en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Integrated Kafka, Spark, and MongoDB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Char char="●"/>
            </a:pPr>
            <a:r>
              <a:rPr lang="en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Demonstrated effectiveness of big data technologies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26"/>
          <p:cNvSpPr txBox="1"/>
          <p:nvPr/>
        </p:nvSpPr>
        <p:spPr>
          <a:xfrm>
            <a:off x="4694475" y="1391575"/>
            <a:ext cx="4350900" cy="31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Future Work:</a:t>
            </a:r>
            <a:endParaRPr b="1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 larger and more diverse datasets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Integrate advanced machine learning models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Develop real-time dashboards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Implement predictive analytics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Deploy on cloud platform</a:t>
            </a:r>
            <a:endParaRPr b="1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Google Shape;181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5400"/>
            <a:ext cx="9144000" cy="107649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7"/>
          <p:cNvSpPr/>
          <p:nvPr/>
        </p:nvSpPr>
        <p:spPr>
          <a:xfrm>
            <a:off x="1530010" y="323805"/>
            <a:ext cx="8567400" cy="6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27"/>
          <p:cNvSpPr/>
          <p:nvPr/>
        </p:nvSpPr>
        <p:spPr>
          <a:xfrm>
            <a:off x="2942550" y="323800"/>
            <a:ext cx="4915500" cy="9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n" sz="2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Learning Outcomes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27"/>
          <p:cNvSpPr txBox="1"/>
          <p:nvPr/>
        </p:nvSpPr>
        <p:spPr>
          <a:xfrm>
            <a:off x="986525" y="1513325"/>
            <a:ext cx="7773000" cy="3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9250" lvl="0" marL="45720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Char char="●"/>
            </a:pPr>
            <a:r>
              <a:rPr lang="en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Built a complete big data processing pipeline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Char char="●"/>
            </a:pPr>
            <a:r>
              <a:rPr lang="en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Implemented streaming analytics using Spark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Char char="●"/>
            </a:pPr>
            <a:r>
              <a:rPr lang="en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Integrated Spark with MongoDB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Char char="●"/>
            </a:pPr>
            <a:r>
              <a:rPr lang="en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Gained experience in real-time data processing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Char char="●"/>
            </a:pPr>
            <a:r>
              <a:rPr lang="en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Learned visualization of analytical results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Char char="●"/>
            </a:pPr>
            <a:r>
              <a:rPr lang="en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Understood deployment using container technologies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0" rtl="0"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Google Shape;189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5400"/>
            <a:ext cx="9144000" cy="107649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8"/>
          <p:cNvSpPr/>
          <p:nvPr/>
        </p:nvSpPr>
        <p:spPr>
          <a:xfrm>
            <a:off x="1530010" y="323805"/>
            <a:ext cx="8567400" cy="6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28"/>
          <p:cNvSpPr/>
          <p:nvPr/>
        </p:nvSpPr>
        <p:spPr>
          <a:xfrm>
            <a:off x="3163675" y="323800"/>
            <a:ext cx="4915500" cy="9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n" sz="2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REFERENCES</a:t>
            </a:r>
            <a:endParaRPr sz="1800"/>
          </a:p>
        </p:txBody>
      </p:sp>
      <p:sp>
        <p:nvSpPr>
          <p:cNvPr id="192" name="Google Shape;192;p28"/>
          <p:cNvSpPr txBox="1"/>
          <p:nvPr/>
        </p:nvSpPr>
        <p:spPr>
          <a:xfrm>
            <a:off x="481375" y="1171325"/>
            <a:ext cx="7773000" cy="386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AutoNum type="arabicPeriod"/>
            </a:pPr>
            <a:r>
              <a:rPr lang="en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Apache Spark Documentation. Available at:</a:t>
            </a:r>
            <a:r>
              <a:rPr lang="en" sz="1500">
                <a:solidFill>
                  <a:schemeClr val="dk1"/>
                </a:solidFill>
                <a:uFill>
                  <a:noFill/>
                </a:u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sz="1500" u="sng">
                <a:solidFill>
                  <a:srgbClr val="1155CC"/>
                </a:solidFill>
                <a:latin typeface="Calibri"/>
                <a:ea typeface="Calibri"/>
                <a:cs typeface="Calibri"/>
                <a:sym typeface="Calibri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https://spark.apache.org/docs/latest/</a:t>
            </a:r>
            <a:endParaRPr sz="1500" u="sng">
              <a:solidFill>
                <a:srgbClr val="1155C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AutoNum type="arabicPeriod"/>
            </a:pPr>
            <a:r>
              <a:rPr lang="en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Apache Kafka Documentation. Available at:</a:t>
            </a:r>
            <a:r>
              <a:rPr lang="en" sz="1500">
                <a:solidFill>
                  <a:schemeClr val="dk1"/>
                </a:solidFill>
                <a:uFill>
                  <a:noFill/>
                </a:uFill>
                <a:latin typeface="Calibri"/>
                <a:ea typeface="Calibri"/>
                <a:cs typeface="Calibri"/>
                <a:sym typeface="Calibri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sz="1500" u="sng">
                <a:solidFill>
                  <a:srgbClr val="1155CC"/>
                </a:solidFill>
                <a:latin typeface="Calibri"/>
                <a:ea typeface="Calibri"/>
                <a:cs typeface="Calibri"/>
                <a:sym typeface="Calibri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https://kafka.apache.org/documentation/</a:t>
            </a:r>
            <a:endParaRPr sz="1500" u="sng">
              <a:solidFill>
                <a:srgbClr val="1155C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AutoNum type="arabicPeriod"/>
            </a:pPr>
            <a:r>
              <a:rPr lang="en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MongoDB Documentation. Available at:</a:t>
            </a:r>
            <a:r>
              <a:rPr lang="en" sz="1500">
                <a:solidFill>
                  <a:schemeClr val="dk1"/>
                </a:solidFill>
                <a:uFill>
                  <a:noFill/>
                </a:uFill>
                <a:latin typeface="Calibri"/>
                <a:ea typeface="Calibri"/>
                <a:cs typeface="Calibri"/>
                <a:sym typeface="Calibri"/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sz="1500" u="sng">
                <a:solidFill>
                  <a:srgbClr val="1155CC"/>
                </a:solidFill>
                <a:latin typeface="Calibri"/>
                <a:ea typeface="Calibri"/>
                <a:cs typeface="Calibri"/>
                <a:sym typeface="Calibri"/>
                <a:hlinkClick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https://www.mongodb.com/docs/</a:t>
            </a:r>
            <a:endParaRPr sz="1500" u="sng">
              <a:solidFill>
                <a:srgbClr val="1155C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AutoNum type="arabicPeriod"/>
            </a:pPr>
            <a:r>
              <a:rPr lang="en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Kaggle Dataset Repository – Screw Defect Dataset. Available at:</a:t>
            </a:r>
            <a:r>
              <a:rPr lang="en" sz="1500">
                <a:solidFill>
                  <a:schemeClr val="dk1"/>
                </a:solidFill>
                <a:uFill>
                  <a:noFill/>
                </a:uFill>
                <a:latin typeface="Calibri"/>
                <a:ea typeface="Calibri"/>
                <a:cs typeface="Calibri"/>
                <a:sym typeface="Calibri"/>
                <a:hlinkClick r:id="rId1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sz="1500" u="sng">
                <a:solidFill>
                  <a:srgbClr val="1155CC"/>
                </a:solidFill>
                <a:latin typeface="Calibri"/>
                <a:ea typeface="Calibri"/>
                <a:cs typeface="Calibri"/>
                <a:sym typeface="Calibri"/>
                <a:hlinkClick r:id="rId11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https://www.kaggle.com/</a:t>
            </a:r>
            <a:endParaRPr sz="1500" u="sng">
              <a:solidFill>
                <a:srgbClr val="1155C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AutoNum type="arabicPeriod"/>
            </a:pPr>
            <a:r>
              <a:rPr lang="en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Dean, J. and Ghemawat, S. (2008). MapReduce: Simplified Data Processing on Large Clusters. Communications of the ACM.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AutoNum type="arabicPeriod"/>
            </a:pPr>
            <a:r>
              <a:rPr lang="en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Zaharia, M. et al. (2016). Apache Spark: A Unified Engine for Big Data Processing. Communications of the ACM.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AutoNum type="arabicPeriod"/>
            </a:pPr>
            <a:r>
              <a:rPr lang="en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White, T. (2015). Hadoop: The Definitive Guide. O’Reilly Media.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AutoNum type="arabicPeriod"/>
            </a:pPr>
            <a:r>
              <a:rPr lang="en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Karau, H., Konwinski, A., Wendell, P., and Zaharia, M. (2015). Learning Spark. O’Reilly Media.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AutoNum type="arabicPeriod"/>
            </a:pPr>
            <a:r>
              <a:rPr lang="en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Han, J., Kamber, M., and Pei, J. (2011). Data Mining: Concepts and Techniques. Morgan Kaufmann.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AutoNum type="arabicPeriod"/>
            </a:pPr>
            <a:r>
              <a:rPr lang="en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OpenCV Documentation. Available at: https://docs.opencv.org/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AutoNum type="arabicPeriod"/>
            </a:pPr>
            <a:r>
              <a:rPr lang="en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Matplotlib Documentation. Available at:</a:t>
            </a:r>
            <a:r>
              <a:rPr lang="en" sz="1500">
                <a:solidFill>
                  <a:schemeClr val="dk1"/>
                </a:solidFill>
                <a:uFill>
                  <a:noFill/>
                </a:uFill>
                <a:latin typeface="Calibri"/>
                <a:ea typeface="Calibri"/>
                <a:cs typeface="Calibri"/>
                <a:sym typeface="Calibri"/>
                <a:hlinkClick r:id="rId1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sz="1500" u="sng">
                <a:solidFill>
                  <a:srgbClr val="1155CC"/>
                </a:solidFill>
                <a:latin typeface="Calibri"/>
                <a:ea typeface="Calibri"/>
                <a:cs typeface="Calibri"/>
                <a:sym typeface="Calibri"/>
                <a:hlinkClick r:id="rId1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https://matplotlib.org/stable/contents.html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